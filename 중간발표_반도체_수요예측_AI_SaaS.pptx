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85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371600"/>
            <a:ext cx="1371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200" b="1">
                <a:solidFill>
                  <a:srgbClr val="FFFFFF"/>
                </a:solidFill>
                <a:latin typeface="맑은 고딕"/>
              </a:defRPr>
            </a:pPr>
            <a:r>
              <a:t>반도체 부품·소재 수요예측 AI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94A8C8"/>
                </a:solidFill>
                <a:latin typeface="맑은 고딕"/>
              </a:defRPr>
            </a:pPr>
            <a:r>
              <a:t>수요 변동성 분석 및 재고 리스크 최적화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2563EB"/>
                </a:solidFill>
                <a:latin typeface="맑은 고딕"/>
              </a:defRPr>
            </a:pPr>
            <a:r>
              <a:t>중간발표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4A8C8"/>
                </a:solidFill>
                <a:latin typeface="맑은 고딕"/>
              </a:defRPr>
            </a:pPr>
            <a:r>
              <a:t>2026. 03. 14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4A8C8"/>
                </a:solidFill>
                <a:latin typeface="맑은 고딕"/>
              </a:defRPr>
            </a:pPr>
            <a:r>
              <a:t>팀원: 경아 · 성민 · 지은 · 다솜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B4B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563EB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216152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맑은 고딕"/>
              </a:defRPr>
            </a:pPr>
            <a:r>
              <a:t>프로젝트 배경 및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563EB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856232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맑은 고딕"/>
              </a:defRPr>
            </a:pPr>
            <a:r>
              <a:t>시스템 아키텍처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563EB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496312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맑은 고딕"/>
              </a:defRPr>
            </a:pPr>
            <a:r>
              <a:t>데이터 현황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08959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563EB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136391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맑은 고딕"/>
              </a:defRPr>
            </a:pPr>
            <a:r>
              <a:t>ML 파이프라인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40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563EB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776472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맑은 고딕"/>
              </a:defRPr>
            </a:pPr>
            <a:r>
              <a:t>모델 성능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563EB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16552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맑은 고딕"/>
              </a:defRPr>
            </a:pPr>
            <a:r>
              <a:t>핵심 기능 — 대시보드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29199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563EB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56631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맑은 고딕"/>
              </a:defRPr>
            </a:pPr>
            <a:r>
              <a:t>핵심 기능 — 수요예측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188720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563EB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216152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맑은 고딕"/>
              </a:defRPr>
            </a:pPr>
            <a:r>
              <a:t>핵심 기능 — 리스크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828800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563EB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1856232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맑은 고딕"/>
              </a:defRPr>
            </a:pPr>
            <a:r>
              <a:t>핵심 기능 — 최적화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468880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563EB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496312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맑은 고딕"/>
              </a:defRPr>
            </a:pPr>
            <a:r>
              <a:t>핵심 기능 — 외부지표·AI 인사이트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108959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563EB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136391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맑은 고딕"/>
              </a:defRPr>
            </a:pPr>
            <a:r>
              <a:t>개발 진행 현황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749040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563EB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776472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맑은 고딕"/>
              </a:defRPr>
            </a:pPr>
            <a:r>
              <a:t>팀 구성 및 역할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389120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563EB"/>
                </a:solidFill>
                <a:latin typeface="맑은 고딕"/>
              </a:defRPr>
            </a:pPr>
            <a: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416552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맑은 고딕"/>
              </a:defRPr>
            </a:pPr>
            <a:r>
              <a:t>향후 계획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029199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563EB"/>
                </a:solidFill>
                <a:latin typeface="맑은 고딕"/>
              </a:defRPr>
            </a:pPr>
            <a: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056631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맑은 고딕"/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B4B"/>
                </a:solidFill>
                <a:latin typeface="맑은 고딕"/>
              </a:defRPr>
            </a:pPr>
            <a:r>
              <a:t>01  프로젝트 배경 및 목표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3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291840" cy="1828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371600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2B4B"/>
                </a:solidFill>
                <a:latin typeface="맑은 고딕"/>
              </a:defRPr>
            </a:pPr>
            <a:r>
              <a:t>수요 변동성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반도체 부품·소재는 수주 변동이 크고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예측이 어려워 재고 과잉/결품 발생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291840" cy="1828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371600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2B4B"/>
                </a:solidFill>
                <a:latin typeface="맑은 고딕"/>
              </a:defRPr>
            </a:pPr>
            <a:r>
              <a:t>수동 의사결정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8288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경험 기반 발주·생산 결정으로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비효율과 리스크 누적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291840" cy="1828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371600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2B4B"/>
                </a:solidFill>
                <a:latin typeface="맑은 고딕"/>
              </a:defRPr>
            </a:pPr>
            <a:r>
              <a:t>정보 분산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8288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ERP, 엑셀, 외부지표 등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  <a:latin typeface="맑은 고딕"/>
              </a:defRPr>
            </a:pPr>
            <a:r>
              <a:t>데이터가 분산되어 통합 분석 불가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2563EB"/>
                </a:solidFill>
                <a:latin typeface="맑은 고딕"/>
              </a:defRPr>
            </a:pPr>
            <a:r>
              <a:t>▼  해결 방안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9476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2563EB"/>
                </a:solidFill>
                <a:latin typeface="맑은 고딕"/>
              </a:defRPr>
            </a:pPr>
            <a:r>
              <a:t>AI 수요예측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LightGBM 분위 회귀 기반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P10/P50/P90 밴드 예측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79476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20440" y="3977639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2563EB"/>
                </a:solidFill>
                <a:latin typeface="맑은 고딕"/>
              </a:defRPr>
            </a:pPr>
            <a:r>
              <a:t>리스크 자동 스코어링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3891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결품·과잉·납기·마진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4차원 리스크 점수 + A~F 등급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9476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977639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2563EB"/>
                </a:solidFill>
                <a:latin typeface="맑은 고딕"/>
              </a:defRPr>
            </a:pPr>
            <a:r>
              <a:t>생산·발주 최적화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891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리스크 연동 생산 권고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EOQ 기반 발주 최적화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379476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81160" y="3977639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2563EB"/>
                </a:solidFill>
                <a:latin typeface="맑은 고딕"/>
              </a:defRPr>
            </a:pPr>
            <a:r>
              <a:t>통합 대시보드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43891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13개 페이지 웹 SaaS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실시간 모니터링 + AI 인사이트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B4B"/>
                </a:solidFill>
                <a:latin typeface="맑은 고딕"/>
              </a:defRPr>
            </a:pPr>
            <a:r>
              <a:t>02  시스템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4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2560320" cy="11887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2563EB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Next.js 14 + React 18 + TypeScript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Recharts 차트 · Pretendard 폰트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13개 페이지 SPA + 반응형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2560320" cy="11887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59669"/>
                </a:solidFill>
                <a:latin typeface="맑은 고딕"/>
              </a:defRPr>
            </a:pPr>
            <a:r>
              <a:t>Backend /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rPr dirty="0"/>
              <a:t>Next.js API Routes (40+ </a:t>
            </a:r>
            <a:r>
              <a:rPr dirty="0" err="1"/>
              <a:t>엔드포인트</a:t>
            </a:r>
            <a:r>
              <a:rPr dirty="0"/>
              <a:t>)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rPr dirty="0" err="1"/>
              <a:t>Supabase</a:t>
            </a:r>
            <a:r>
              <a:rPr dirty="0"/>
              <a:t> Auth (JWT · RBAC 4단계)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rPr dirty="0"/>
              <a:t>GPT-4o-mini AI </a:t>
            </a:r>
            <a:r>
              <a:rPr dirty="0" err="1"/>
              <a:t>인사이트</a:t>
            </a:r>
            <a:r>
              <a:rPr dirty="0"/>
              <a:t> (6h </a:t>
            </a:r>
            <a:r>
              <a:rPr dirty="0" err="1"/>
              <a:t>캐시</a:t>
            </a:r>
            <a:r>
              <a:rPr dirty="0"/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40"/>
            <a:ext cx="2560320" cy="11887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D97706"/>
                </a:solidFill>
                <a:latin typeface="맑은 고딕"/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Supabase PostgreSQL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23+ 테이블 · 524K+ rows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RPC 최적화 · 30s API 캐시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74919"/>
            <a:ext cx="2560320" cy="11887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166359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7C3AED"/>
                </a:solidFill>
                <a:latin typeface="맑은 고딕"/>
              </a:defRPr>
            </a:pPr>
            <a:r>
              <a:t>ML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399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Python · LightGBM Quantile · Ridge · SVR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13단계 파이프라인 (S0~S8)</a:t>
            </a:r>
          </a:p>
          <a:p>
            <a:pPr algn="ctr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7종 학습 모델 · 구간별 자동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10972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2B4B"/>
                </a:solidFill>
                <a:latin typeface="맑은 고딕"/>
              </a:defRPr>
            </a:pPr>
            <a:r>
              <a:t>데이터 흐름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15087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CSV 원천 데이터 9종 (수주/매출/생산/재고/발주/BOM/제품/고객/거래처)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184708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t>   ▼  Python ETL → Supabase 적재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185416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S0: 주간/고객별 집계 (54K+34K건)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523743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S1: 일간 재고 추정 (617K건)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862072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S2: 리드타임 산출 (2.1K건)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2004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S3: 피처 스토어 구축 (83.7K건)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538727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t>   ▼  ML 학습 &amp; 추론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877056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S4: 수요예측 — LightGBM/Ridge/SVR (351K건)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215384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S4S: 구간별 최적 모델 선택 (11.4K건)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553712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S5: 리스크 점수 산출 (39.9K건)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8920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S6: 조치 큐 생성 (10.6K건)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23036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S7: 생산 권고 생성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568695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S8: 구매 권고 생성 (EOQ)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907024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2563EB"/>
                </a:solidFill>
                <a:latin typeface="맑은 고딕"/>
              </a:defRPr>
            </a:pPr>
            <a:r>
              <a:t>   ▼  API 서빙 → 프론트엔드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10972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2B4B"/>
                </a:solidFill>
                <a:latin typeface="맑은 고딕"/>
              </a:defRPr>
            </a:pPr>
            <a:r>
              <a:t>기술 스택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15087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66666"/>
                </a:solidFill>
                <a:latin typeface="맑은 고딕"/>
              </a:defRPr>
            </a:pPr>
            <a:r>
              <a:t>Language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17099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Python 3.14 / TypeScript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05740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66666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225856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Next.js 14 + React 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60604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66666"/>
                </a:solidFill>
                <a:latin typeface="맑은 고딕"/>
              </a:defRPr>
            </a:pPr>
            <a:r>
              <a:t>Charts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8072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Recharts 2.12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154679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66666"/>
                </a:solidFill>
                <a:latin typeface="맑은 고딕"/>
              </a:defRPr>
            </a:pPr>
            <a:r>
              <a:t>Auth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3355847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Supabase Auth (JWT)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66666"/>
                </a:solidFill>
                <a:latin typeface="맑은 고딕"/>
              </a:defRPr>
            </a:pPr>
            <a:r>
              <a:t>DB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390448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PostgreSQL (Supabase)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2519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66666"/>
                </a:solidFill>
                <a:latin typeface="맑은 고딕"/>
              </a:defRPr>
            </a:pPr>
            <a:r>
              <a:t>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44531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LightGBM · Ridge · SVR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4800599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66666"/>
                </a:solidFill>
                <a:latin typeface="맑은 고딕"/>
              </a:defRPr>
            </a:pPr>
            <a:r>
              <a:t>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5001767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GPT-4o-mini (인사이트)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534924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66666"/>
                </a:solidFill>
                <a:latin typeface="맑은 고딕"/>
              </a:defRPr>
            </a:pPr>
            <a:r>
              <a:t>배포 예정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55504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Vercel + Supabase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B4B"/>
                </a:solidFill>
                <a:latin typeface="맑은 고딕"/>
              </a:defRPr>
            </a:pPr>
            <a:r>
              <a:t>03  데이터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5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2B4B"/>
                </a:solidFill>
                <a:latin typeface="맑은 고딕"/>
              </a:defRPr>
            </a:pPr>
            <a:r>
              <a:t>내부 데이터 (9종 CSV)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18872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B2B4B"/>
                </a:solidFill>
                <a:latin typeface="맑은 고딕"/>
              </a:defRPr>
            </a:pPr>
            <a:r>
              <a:t>일별수주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645920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핵심 입력 — 수요 변동성 분석 기반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118872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B2B4B"/>
                </a:solidFill>
                <a:latin typeface="맑은 고딕"/>
              </a:defRPr>
            </a:pPr>
            <a:r>
              <a:t>일별매출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148840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수요-매출 갭 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06040"/>
            <a:ext cx="118872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B2B4B"/>
                </a:solidFill>
                <a:latin typeface="맑은 고딕"/>
              </a:defRPr>
            </a:pPr>
            <a:r>
              <a:t>일별생산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651760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생산 캐파 분석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08960"/>
            <a:ext cx="118872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1546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B2B4B"/>
                </a:solidFill>
                <a:latin typeface="맑은 고딕"/>
              </a:defRPr>
            </a:pPr>
            <a:r>
              <a:t>재고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154680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리스크 점수 산정 기반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118872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65760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B2B4B"/>
                </a:solidFill>
                <a:latin typeface="맑은 고딕"/>
              </a:defRPr>
            </a:pPr>
            <a:r>
              <a:t>구매발주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657600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리드타임 분석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1600200"/>
            <a:ext cx="118872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52160" y="164592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B2B4B"/>
                </a:solidFill>
                <a:latin typeface="맑은 고딕"/>
              </a:defRPr>
            </a:pPr>
            <a:r>
              <a:t>제품마스터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1645920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제품 분류·속성 정보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2103120"/>
            <a:ext cx="118872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52160" y="214884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B2B4B"/>
                </a:solidFill>
                <a:latin typeface="맑은 고딕"/>
              </a:defRPr>
            </a:pPr>
            <a:r>
              <a:t>BOM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148840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소재→부품 연결 관계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2606040"/>
            <a:ext cx="118872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52160" y="265176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B2B4B"/>
                </a:solidFill>
                <a:latin typeface="맑은 고딕"/>
              </a:defRPr>
            </a:pPr>
            <a:r>
              <a:t>고객사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2651760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고객별 수요 패턴 분석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3108960"/>
            <a:ext cx="1188720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52160" y="315468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B2B4B"/>
                </a:solidFill>
                <a:latin typeface="맑은 고딕"/>
              </a:defRPr>
            </a:pPr>
            <a:r>
              <a:t>거래처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3154680"/>
            <a:ext cx="34747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공급 리드타임·안정성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2B4B"/>
                </a:solidFill>
                <a:latin typeface="맑은 고딕"/>
              </a:defRPr>
            </a:pPr>
            <a:r>
              <a:t>외부 지표 데이터 (18종)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80060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563EB"/>
                </a:solidFill>
                <a:latin typeface="맑은 고딕"/>
              </a:defRPr>
            </a:pPr>
            <a:r>
              <a:t>반도체 지표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48006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SOX 지수, DRAM/NAND 가격, 실리콘 웨이퍼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1663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563EB"/>
                </a:solidFill>
                <a:latin typeface="맑은 고딕"/>
              </a:defRPr>
            </a:pPr>
            <a:r>
              <a:t>글로벌 수요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51663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산업생산지수(INDPRO), PMI, 제조업IP, HS8541 무역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53212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563EB"/>
                </a:solidFill>
                <a:latin typeface="맑은 고딕"/>
              </a:defRPr>
            </a:pPr>
            <a:r>
              <a:t>환율·금리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55321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KRW/JPY/USD 환율, 기준금리, IPI, BSI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9788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563EB"/>
                </a:solidFill>
                <a:latin typeface="맑은 고딕"/>
              </a:defRPr>
            </a:pPr>
            <a:r>
              <a:t>물류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58978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BDI (발틱운임지수)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26364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2563EB"/>
                </a:solidFill>
                <a:latin typeface="맑은 고딕"/>
              </a:defRPr>
            </a:pPr>
            <a:r>
              <a:t>원자재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62636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WTI 유가, 구리 가격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0" y="1371600"/>
            <a:ext cx="2926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869680" y="150876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DB 테이블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1783080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B2B4B"/>
                </a:solidFill>
                <a:latin typeface="맑은 고딕"/>
              </a:defRPr>
            </a:pPr>
            <a:r>
              <a:t>23+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219456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PostgreSQL (Supabase)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0" y="2651760"/>
            <a:ext cx="2926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869680" y="278892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총 데이터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3063240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2563EB"/>
                </a:solidFill>
                <a:latin typeface="맑은 고딕"/>
              </a:defRPr>
            </a:pPr>
            <a:r>
              <a:t>524K+ rows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80" y="347472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forecast_result 단일 테이블 기준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86800" y="3931920"/>
            <a:ext cx="2926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869680" y="40690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외부 지표 소스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4343400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059669"/>
                </a:solidFill>
                <a:latin typeface="맑은 고딕"/>
              </a:defRPr>
            </a:pPr>
            <a:r>
              <a:t>5개 API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69680" y="475488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FRED · Yahoo · ECOS · EIA · 관세청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86800" y="5212080"/>
            <a:ext cx="2926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869680" y="53492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학습 모델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5623560"/>
            <a:ext cx="25603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7C3AED"/>
                </a:solidFill>
                <a:latin typeface="맑은 고딕"/>
              </a:defRPr>
            </a:pPr>
            <a:r>
              <a:t>7종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680" y="603504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LightGBM 4종 + Ridge + SVR + Selector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B4B"/>
                </a:solidFill>
                <a:latin typeface="맑은 고딕"/>
              </a:defRPr>
            </a:pPr>
            <a:r>
              <a:t>04  ML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164592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920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92024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23444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집계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주간/고객별 집계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54K+34K건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64592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188720"/>
            <a:ext cx="1920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1188720"/>
            <a:ext cx="192024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123444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23444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재고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1691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일간 재고 추정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617K건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64592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188720"/>
            <a:ext cx="1920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0" y="1188720"/>
            <a:ext cx="192024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123444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123444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리드타임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1691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리드타임 산출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2.1K건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164592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188720"/>
            <a:ext cx="1920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0" y="1188720"/>
            <a:ext cx="192024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0" y="123444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123444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피처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1691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피처 스토어 구축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83.7K건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1188720"/>
            <a:ext cx="1920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601200" y="1188720"/>
            <a:ext cx="192024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92640" y="123444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123444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예측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16916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LightGBM 분위 회귀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351K건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420624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749040"/>
            <a:ext cx="1920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3749040"/>
            <a:ext cx="192024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379476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S4S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379476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모델선택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4251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구간별 최적 모델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11.4K건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420624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0" y="3749040"/>
            <a:ext cx="1920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743200" y="3749040"/>
            <a:ext cx="192024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834640" y="379476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379476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리스크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0360" y="4251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4차원 리스크 점수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39.9K건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420624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0" y="3749040"/>
            <a:ext cx="1920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029200" y="3749040"/>
            <a:ext cx="192024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20640" y="379476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379476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조치큐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66360" y="4251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AI 조치 큐 생성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10.6K건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420624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0" y="3749040"/>
            <a:ext cx="1920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315200" y="3749040"/>
            <a:ext cx="192024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406640" y="379476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80" y="379476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생산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52360" y="4251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생산 권고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P90/동적 기반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01200" y="3749040"/>
            <a:ext cx="1920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601200" y="3749040"/>
            <a:ext cx="192024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692640" y="3794760"/>
            <a:ext cx="457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379476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발주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38360" y="4251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구매 최적화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EOQ+fallback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0">
                <a:solidFill>
                  <a:srgbClr val="666666"/>
                </a:solidFill>
                <a:latin typeface="맑은 고딕"/>
              </a:defRPr>
            </a:pPr>
            <a:r>
              <a:t>전처리 → 피처 엔지니어링 → 예측 → 리스크 → 의사결정 지원의 End-to-End 파이프라인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B4B"/>
                </a:solidFill>
                <a:latin typeface="맑은 고딕"/>
              </a:defRPr>
            </a:pPr>
            <a:r>
              <a:t>05  모델 성능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7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2B4B"/>
                </a:solidFill>
                <a:latin typeface="맑은 고딕"/>
              </a:defRPr>
            </a:pPr>
            <a:r>
              <a:t>주간 예측 모델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2011680" cy="3657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모델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554480"/>
            <a:ext cx="914400" cy="3657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160020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R²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554480"/>
            <a:ext cx="914400" cy="3657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160020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MAE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554480"/>
            <a:ext cx="1371600" cy="3657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600200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±5 허용오차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554480"/>
            <a:ext cx="1645920" cy="3657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160020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비고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1920240"/>
            <a:ext cx="201168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1965960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LightGBM v3 (정규화)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920240"/>
            <a:ext cx="91440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34640" y="1965960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0.27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1920240"/>
            <a:ext cx="91440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40" y="1965960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49.7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920240"/>
            <a:ext cx="137160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1965960"/>
            <a:ext cx="1188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6.5%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920240"/>
            <a:ext cx="164592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0" y="1965960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★ 주간 Best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2267712"/>
            <a:ext cx="2011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231343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LightGBM v4 (2-Stage)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2267712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34640" y="2313432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2267712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49040" y="2313432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2267712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63440" y="2313432"/>
            <a:ext cx="1188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WMAPE 39.7~71%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2267712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35040" y="2313432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v3 대비 22%↑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2615184"/>
            <a:ext cx="201168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2660904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Ridge Regression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2615184"/>
            <a:ext cx="91440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34640" y="2660904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0.26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2615184"/>
            <a:ext cx="91440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49040" y="2660904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42.3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2615184"/>
            <a:ext cx="137160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63440" y="2660904"/>
            <a:ext cx="1188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60.2%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2615184"/>
            <a:ext cx="164592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035040" y="2660904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저수요 대안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2962656"/>
            <a:ext cx="2011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3008376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Linear SVR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2962656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834640" y="3008376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0.02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0" y="2962656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749040" y="3008376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39.3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2962656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663440" y="3008376"/>
            <a:ext cx="1188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62.6%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0" y="2962656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035040" y="3008376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±5 최고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3310128"/>
            <a:ext cx="201168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22960" y="3355848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Random Forest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0" y="3310128"/>
            <a:ext cx="91440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834640" y="3355848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0.27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0" y="3310128"/>
            <a:ext cx="91440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749040" y="3355848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50.2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0" y="3310128"/>
            <a:ext cx="137160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663440" y="3355848"/>
            <a:ext cx="1188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15.4%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0" y="3310128"/>
            <a:ext cx="164592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035040" y="3355848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앙상블 비교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" y="3657600"/>
            <a:ext cx="2011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2960" y="3703320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Segment Selector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0" y="3657600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834640" y="3703320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0" y="3657600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749040" y="3703320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0" y="3657600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663440" y="3703320"/>
            <a:ext cx="1188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43600" y="3657600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035040" y="3703320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구간별 자동선택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2B4B"/>
                </a:solidFill>
                <a:latin typeface="맑은 고딕"/>
              </a:defRPr>
            </a:pPr>
            <a:r>
              <a:t>월간 예측 모델 비교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1520" y="4343400"/>
            <a:ext cx="2011680" cy="3657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22960" y="43891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모델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0" y="4343400"/>
            <a:ext cx="914400" cy="3657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834640" y="438912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R²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0" y="4343400"/>
            <a:ext cx="914400" cy="3657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749040" y="4389120"/>
            <a:ext cx="731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MAE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0" y="4343400"/>
            <a:ext cx="1371600" cy="3657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663440" y="4389120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±5 허용오차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43600" y="4343400"/>
            <a:ext cx="1645920" cy="365760"/>
          </a:xfrm>
          <a:prstGeom prst="rect">
            <a:avLst/>
          </a:prstGeom>
          <a:solidFill>
            <a:srgbClr val="1B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35040" y="43891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비고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31520" y="4709160"/>
            <a:ext cx="201168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22960" y="4754880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LightGBM v1 (베이스라인)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0" y="4709160"/>
            <a:ext cx="91440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2834640" y="4754880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0.64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0" y="4709160"/>
            <a:ext cx="91440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749040" y="4754880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59.6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72000" y="4709160"/>
            <a:ext cx="137160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663440" y="4754880"/>
            <a:ext cx="1188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5.8%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0" y="4709160"/>
            <a:ext cx="164592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035040" y="4754880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★ 월간 Best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" y="5056632"/>
            <a:ext cx="2011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22960" y="5102352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LightGBM v2 (WMAPE)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0" y="5056632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834640" y="5102352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657600" y="5056632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749040" y="5102352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572000" y="5056632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663440" y="5102352"/>
            <a:ext cx="1188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WMAPE 43~66%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943600" y="5056632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035040" y="5102352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v2 분기별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31520" y="5404104"/>
            <a:ext cx="201168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822960" y="5449824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Ridge Regression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743200" y="5404104"/>
            <a:ext cx="91440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834640" y="5449824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0.69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657600" y="5404104"/>
            <a:ext cx="91440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3749040" y="5449824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54.3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572000" y="5404104"/>
            <a:ext cx="137160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663440" y="5449824"/>
            <a:ext cx="1188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27.6%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943600" y="5404104"/>
            <a:ext cx="164592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035040" y="5449824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R² 최고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31520" y="5751576"/>
            <a:ext cx="2011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822960" y="5797296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Linear SVR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743200" y="5751576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2834640" y="5797296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0.68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657600" y="5751576"/>
            <a:ext cx="914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749040" y="5797296"/>
            <a:ext cx="731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49.2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572000" y="5751576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663440" y="5797296"/>
            <a:ext cx="1188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47.8%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943600" y="5751576"/>
            <a:ext cx="1645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6035040" y="5797296"/>
            <a:ext cx="14630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MAE 최저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772400" y="1188720"/>
            <a:ext cx="3931920" cy="5029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8046720" y="137160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>
                <a:solidFill>
                  <a:srgbClr val="2563EB"/>
                </a:solidFill>
                <a:latin typeface="맑은 고딕"/>
              </a:defRPr>
            </a:pPr>
            <a:r>
              <a:t>핵심 전략: 구간별 모델 선택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046720" y="1828800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2B4B"/>
                </a:solidFill>
                <a:latin typeface="맑은 고딕"/>
              </a:defRPr>
            </a:pPr>
            <a:r>
              <a:t>저수요 구간 (일평균 &lt; 10)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046720" y="2103120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563EB"/>
                </a:solidFill>
                <a:latin typeface="맑은 고딕"/>
              </a:defRPr>
            </a:pPr>
            <a:r>
              <a:t>  → Linear SVR (±5 허용오차 62.6%)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046720" y="2377440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8046720" y="2651759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2B4B"/>
                </a:solidFill>
                <a:latin typeface="맑은 고딕"/>
              </a:defRPr>
            </a:pPr>
            <a:r>
              <a:t>중수요 구간 (10 ~ 100)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46720" y="2926080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563EB"/>
                </a:solidFill>
                <a:latin typeface="맑은 고딕"/>
              </a:defRPr>
            </a:pPr>
            <a:r>
              <a:t>  → LightGBM v3 (R² 0.27)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046720" y="3200400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8046720" y="3474719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2B4B"/>
                </a:solidFill>
                <a:latin typeface="맑은 고딕"/>
              </a:defRPr>
            </a:pPr>
            <a:r>
              <a:t>고수요 구간 (&gt; 100)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046720" y="3749040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563EB"/>
                </a:solidFill>
                <a:latin typeface="맑은 고딕"/>
              </a:defRPr>
            </a:pPr>
            <a:r>
              <a:t>  → LightGBM / Ridge (R² 우위)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046720" y="4023360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8046720" y="4297679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2B4B"/>
                </a:solidFill>
                <a:latin typeface="맑은 고딕"/>
              </a:defRPr>
            </a:pPr>
            <a:r>
              <a:t>segment_best_v1 자동 선택기가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046720" y="4572000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2B4B"/>
                </a:solidFill>
                <a:latin typeface="맑은 고딕"/>
              </a:defRPr>
            </a:pPr>
            <a:r>
              <a:t>제품별 최적 모델을 자동 배정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046720" y="4846320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(총 11,431건 선택 완료)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046720" y="5120639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046720" y="5394960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2B4B"/>
                </a:solidFill>
                <a:latin typeface="맑은 고딕"/>
              </a:defRPr>
            </a:pPr>
            <a:r>
              <a:t>v4 2-Stage 글로벌 모델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046720" y="5669280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563EB"/>
                </a:solidFill>
                <a:latin typeface="맑은 고딕"/>
              </a:defRPr>
            </a:pPr>
            <a:r>
              <a:t>  → 분류(zero/non-zero) + 회귀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046720" y="5943600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2563EB"/>
                </a:solidFill>
                <a:latin typeface="맑은 고딕"/>
              </a:defRPr>
            </a:pPr>
            <a:r>
              <a:t>  → WMAPE 22% 개선 달성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B4B"/>
                </a:solidFill>
                <a:latin typeface="맑은 고딕"/>
              </a:defRPr>
            </a:pPr>
            <a:r>
              <a:t>06  핵심 기능 — 대시보드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8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7315200" cy="5029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0" y="11887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2B4B"/>
                </a:solidFill>
                <a:latin typeface="맑은 고딕"/>
              </a:defRPr>
            </a:pPr>
            <a:r>
              <a:t>주요 기능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691640"/>
            <a:ext cx="25603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1673352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6916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7개 KPI 영역 실데이터 연동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167128"/>
            <a:ext cx="25603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214884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167128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수주 예측 차트 (P10/P50/P90)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642616"/>
            <a:ext cx="25603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2624328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642616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리스크 등급 분포 (A~F 파이차트)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3118104"/>
            <a:ext cx="25603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3099816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118104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AI 조치 항목 테이블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3593592"/>
            <a:ext cx="25603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3575304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593592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GPT-4o-mini AI 인사이트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4069080"/>
            <a:ext cx="25603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4050792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406908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실시간 알림 (결품/E·F등급/PO)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4544568"/>
            <a:ext cx="25603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4526280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544568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주간 경영 요약 리포트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5020056"/>
            <a:ext cx="256032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5001768"/>
            <a:ext cx="256032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5020056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Supabase RPC 최적화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B1869CC9-F480-42CA-8F75-C22F1FE02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65" y="1508751"/>
            <a:ext cx="6664909" cy="43342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B4B"/>
                </a:solidFill>
                <a:latin typeface="맑은 고딕"/>
              </a:defRPr>
            </a:pPr>
            <a:r>
              <a:t>07  핵심 기능 — 수요예측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9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2B4B"/>
                </a:solidFill>
                <a:latin typeface="맑은 고딕"/>
              </a:defRPr>
            </a:pPr>
            <a:r>
              <a:t>주간 예측 (WeeklyForecast.tsx)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029200" cy="32004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2B4B"/>
                </a:solidFill>
                <a:latin typeface="맑은 고딕"/>
              </a:defRPr>
            </a:pPr>
            <a:r>
              <a:t>월간 예측 (MonthlyForecast.tsx)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029200" cy="32004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2651760" cy="10972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12064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B4B"/>
                </a:solidFill>
                <a:latin typeface="맑은 고딕"/>
              </a:defRPr>
            </a:pPr>
            <a:r>
              <a:t>P10/P50/P90 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4864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분위 회귀로 불확실성 시각화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5029200"/>
            <a:ext cx="2651760" cy="10972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512064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B4B"/>
                </a:solidFill>
                <a:latin typeface="맑은 고딕"/>
              </a:defRPr>
            </a:pPr>
            <a:r>
              <a:t>5개 모델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54864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LightGBM, Ridge, SVR, v4, Segment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029200"/>
            <a:ext cx="2651760" cy="10972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512064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B4B"/>
                </a:solidFill>
                <a:latin typeface="맑은 고딕"/>
              </a:defRPr>
            </a:pPr>
            <a:r>
              <a:t>조회 범위 선택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4864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고객사/제품/기간 동적 필터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5029200"/>
            <a:ext cx="2651760" cy="10972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72600" y="512064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B4B"/>
                </a:solidFill>
                <a:latin typeface="맑은 고딕"/>
              </a:defRPr>
            </a:pPr>
            <a:r>
              <a:t>모델 평가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54864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기간별 MAPE/MAE/Coverage 추이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9607EFCA-7C27-4EDA-BE09-9FEB057F7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274" y="1737360"/>
            <a:ext cx="4463362" cy="283464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A389904-3B73-46CF-BBDB-B7073C444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718" y="1793364"/>
            <a:ext cx="4591603" cy="27786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B4B"/>
                </a:solidFill>
                <a:latin typeface="맑은 고딕"/>
              </a:defRPr>
            </a:pPr>
            <a:r>
              <a:t>08  핵심 기능 — 리스크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10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029200" cy="2743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212080" cy="2743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26974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4206240"/>
            <a:ext cx="269748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270248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4차원 리스크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결품(35%) · 과잉(25%)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납기(25%) · 마진(15%)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불균등 가중치 적용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4206240"/>
            <a:ext cx="26974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7560" y="4206240"/>
            <a:ext cx="269748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4270248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A~F 등급 체계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70916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A(0~15): 안전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F(81~100): 긴급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C등급 이상 조치 큐 생성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206240"/>
            <a:ext cx="26974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4206240"/>
            <a:ext cx="26974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4270248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재고 대시보드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0916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월별 KPI 카드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재고 커버리지 분석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30s API 캐시 성능최적화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4206240"/>
            <a:ext cx="26974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98280" y="4206240"/>
            <a:ext cx="26974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0" y="4270248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AI 조치 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470916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AI 추천 액션 목록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심각도 필터링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상세 모달 + 수요예측 연계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E6540BD-2E81-4067-A5F6-2312F0882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36189"/>
            <a:ext cx="4652682" cy="252257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6D71B5BD-2C01-4A36-AE33-2000F0F11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831" y="1299030"/>
            <a:ext cx="4908769" cy="25225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B4B"/>
                </a:solidFill>
                <a:latin typeface="맑은 고딕"/>
              </a:defRPr>
            </a:pPr>
            <a:r>
              <a:t>09  핵심 기능 — 최적화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11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029200" cy="23774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212080" cy="23774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2697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904488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생산 권고 (S7)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리스크별 동적 생산량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결품 위험 → P90 기준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과잉 위험 → 10% 감량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84048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7560" y="3840480"/>
            <a:ext cx="26974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3904488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구매 최적화 (S8)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3434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EOQ 기반 최적 발주량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불가 시 lot-for-lot 자동 전환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공급사 종합점수 추천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26974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3904488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시나리오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434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3탭 시나리오 (결품/균형/린)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8개 산업 템플릿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segment_best_v1 연동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3840480"/>
            <a:ext cx="2697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98280" y="3840480"/>
            <a:ext cx="269748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0" y="3904488"/>
            <a:ext cx="2423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시나리오→구매 연계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43434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SessionStorage 기반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제품·리스크 정보 자동 전달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컨텍스트 배너 표시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BC737F9-5ACF-4631-9EE6-5B4BBDF6F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06" y="1339761"/>
            <a:ext cx="4679576" cy="208923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225C706C-E981-4E3D-93B4-9F8EA0677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282" y="1280160"/>
            <a:ext cx="4734211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B4B"/>
                </a:solidFill>
                <a:latin typeface="맑은 고딕"/>
              </a:defRPr>
            </a:pPr>
            <a:r>
              <a:t>10  핵심 기능 — 외부지표 · AI 인사이트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12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029200" cy="32004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212080" cy="32004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4663440"/>
            <a:ext cx="2697480" cy="1645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475488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B4B"/>
                </a:solidFill>
                <a:latin typeface="맑은 고딕"/>
              </a:defRPr>
            </a:pPr>
            <a:r>
              <a:t>18개 외부 지표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1206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5개 카테고리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(반도체/글로벌/환율/물류/원자재)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DB + Yahoo + FRED 멀티소스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4663440"/>
            <a:ext cx="2697480" cy="1645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475488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B4B"/>
                </a:solidFill>
                <a:latin typeface="맑은 고딕"/>
              </a:defRPr>
            </a:pPr>
            <a:r>
              <a:t>AI 트렌드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1206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GPT-4o-mini 기반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지표 트렌드 자연어 해석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경영 의사결정 지원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663440"/>
            <a:ext cx="2697480" cy="1645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475488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B4B"/>
                </a:solidFill>
                <a:latin typeface="맑은 고딕"/>
              </a:defRPr>
            </a:pPr>
            <a:r>
              <a:t>실시간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51206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Critical 리스크 즉시 알림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E·F 등급 제품 경고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PO 납기 임박 알림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4663440"/>
            <a:ext cx="2697480" cy="1645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4754880"/>
            <a:ext cx="2423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B4B"/>
                </a:solidFill>
                <a:latin typeface="맑은 고딕"/>
              </a:defRPr>
            </a:pPr>
            <a:r>
              <a:t>주간 경영 리포트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51206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자동 생성 주간 요약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KPI 달성률 + 리스크 추이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경영진 보고용 포맷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4782B8A7-5102-4C0D-A6FA-45D6A76D8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47" y="1351022"/>
            <a:ext cx="4642829" cy="283693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F9376D8-8A6A-4239-9440-15FDE0B96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9264"/>
            <a:ext cx="4931031" cy="24534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B4B"/>
                </a:solidFill>
                <a:latin typeface="맑은 고딕"/>
              </a:defRPr>
            </a:pPr>
            <a:r>
              <a:t>11  개발 진행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13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B4B"/>
                </a:solidFill>
                <a:latin typeface="맑은 고딕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1887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데이터 탐색·전처리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234440"/>
            <a:ext cx="4114800" cy="274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0" y="1234440"/>
            <a:ext cx="411480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81160" y="11887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59669"/>
                </a:solidFill>
                <a:latin typeface="맑은 고딕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B4B"/>
                </a:solidFill>
                <a:latin typeface="맑은 고딕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8745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수요 변동성 분석 모델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920240"/>
            <a:ext cx="4114800" cy="274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0" y="1920240"/>
            <a:ext cx="411480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81160" y="1874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59669"/>
                </a:solidFill>
                <a:latin typeface="맑은 고딕"/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5603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B4B"/>
                </a:solidFill>
                <a:latin typeface="맑은 고딕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5603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재고 리스크 점수화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606040"/>
            <a:ext cx="4114800" cy="274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29200" y="2606040"/>
            <a:ext cx="411480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1160" y="25603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59669"/>
                </a:solidFill>
                <a:latin typeface="맑은 고딕"/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461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B4B"/>
                </a:solidFill>
                <a:latin typeface="맑은 고딕"/>
              </a:defRPr>
            </a:pPr>
            <a: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2461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생산·발주 최적화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3291840"/>
            <a:ext cx="4114800" cy="274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29200" y="3291840"/>
            <a:ext cx="411480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81160" y="32461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59669"/>
                </a:solidFill>
                <a:latin typeface="맑은 고딕"/>
              </a:defRPr>
            </a:pPr>
            <a: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319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B4B"/>
                </a:solidFill>
                <a:latin typeface="맑은 고딕"/>
              </a:defRPr>
            </a:pPr>
            <a:r>
              <a:t>Phase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9319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웹 대시보드 &amp;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3977640"/>
            <a:ext cx="4114800" cy="274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029200" y="3977640"/>
            <a:ext cx="411480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81160" y="39319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59669"/>
                </a:solidFill>
                <a:latin typeface="맑은 고딕"/>
              </a:defRPr>
            </a:pPr>
            <a: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617720"/>
            <a:ext cx="1097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B4B"/>
                </a:solidFill>
                <a:latin typeface="맑은 고딕"/>
              </a:defRPr>
            </a:pPr>
            <a:r>
              <a:t>Phase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6177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통합 테스트·배포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4663440"/>
            <a:ext cx="4114800" cy="274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81160" y="46177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666666"/>
                </a:solidFill>
                <a:latin typeface="맑은 고딕"/>
              </a:defRPr>
            </a:pPr>
            <a:r>
              <a:t>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035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2B4B"/>
                </a:solidFill>
                <a:latin typeface="맑은 고딕"/>
              </a:defRPr>
            </a:pPr>
            <a:r>
              <a:t>핵심 수치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66928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58064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전체 페이지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080760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2563EB"/>
                </a:solidFill>
                <a:latin typeface="맑은 고딕"/>
              </a:defRPr>
            </a:pPr>
            <a:r>
              <a:t>13개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49224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100% 완료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34640" y="566928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17520" y="58064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API 라우트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6080760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2563EB"/>
                </a:solidFill>
                <a:latin typeface="맑은 고딕"/>
              </a:defRPr>
            </a:pPr>
            <a:r>
              <a:t>40+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649224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100% 실데이터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20640" y="566928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0" y="58064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ML 파이프라인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6080760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2563EB"/>
                </a:solidFill>
                <a:latin typeface="맑은 고딕"/>
              </a:defRPr>
            </a:pPr>
            <a:r>
              <a:t>13 step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649224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S0~S8 완료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06640" y="566928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89520" y="58064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개발 기간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0" y="6080760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2563EB"/>
                </a:solidFill>
                <a:latin typeface="맑은 고딕"/>
              </a:defRPr>
            </a:pPr>
            <a:r>
              <a:t>15일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649224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4명 협업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92640" y="566928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875520" y="58064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누적 의사결정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6080760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2563EB"/>
                </a:solidFill>
                <a:latin typeface="맑은 고딕"/>
              </a:defRPr>
            </a:pPr>
            <a:r>
              <a:t>24건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649224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전원 참여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B4B"/>
                </a:solidFill>
                <a:latin typeface="맑은 고딕"/>
              </a:defRPr>
            </a:pPr>
            <a:r>
              <a:t>11-2  전체 페이지 맵 (13개)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14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46304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메인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09728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111556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대시보드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298448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KPI·차트·AI인사이트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691640"/>
            <a:ext cx="1463040" cy="4114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755648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재고 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169164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86000" y="170992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재고 현황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892808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월별 대시보드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69164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0" y="170992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리스크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892808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A~F 등급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9164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170992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C2626"/>
                </a:solidFill>
                <a:latin typeface="맑은 고딕"/>
              </a:defRPr>
            </a:pPr>
            <a:r>
              <a:t>생산 권고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892808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AI 추천 액션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286000"/>
            <a:ext cx="146304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2350008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수요예측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228600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86000" y="230428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7C3AED"/>
                </a:solidFill>
                <a:latin typeface="맑은 고딕"/>
              </a:defRPr>
            </a:pPr>
            <a:r>
              <a:t>주간 예측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2487168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P10/P50/P90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228600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0" y="230428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7C3AED"/>
                </a:solidFill>
                <a:latin typeface="맑은 고딕"/>
              </a:defRPr>
            </a:pPr>
            <a:r>
              <a:t>월간 예측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2487168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장기 트렌드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28600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230428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7C3AED"/>
                </a:solidFill>
                <a:latin typeface="맑은 고딕"/>
              </a:defRPr>
            </a:pPr>
            <a:r>
              <a:t>모델 평가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487168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성능 비교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2880360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2944368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최적화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4560" y="288036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86000" y="289864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맑은 고딕"/>
              </a:defRPr>
            </a:pPr>
            <a:r>
              <a:t>구매 권고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3081528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EOQ 최적화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0" y="288036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97680" y="289864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맑은 고딕"/>
              </a:defRPr>
            </a:pPr>
            <a:r>
              <a:t>시나리오 분석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3081528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What-if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288036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09360" y="289864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맑은 고딕"/>
              </a:defRPr>
            </a:pPr>
            <a:r>
              <a:t>AI 시나리오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081528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모델 선택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474720"/>
            <a:ext cx="146304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3538728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외부 지표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194560" y="347472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286000" y="349300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97706"/>
                </a:solidFill>
                <a:latin typeface="맑은 고딕"/>
              </a:defRPr>
            </a:pPr>
            <a:r>
              <a:t>산업 지표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3675888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SOX/DRAM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06240" y="347472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297680" y="349300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97706"/>
                </a:solidFill>
                <a:latin typeface="맑은 고딕"/>
              </a:defRPr>
            </a:pPr>
            <a:r>
              <a:t>글로벌 수요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80" y="3675888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IPI/PMI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347472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09360" y="349300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97706"/>
                </a:solidFill>
                <a:latin typeface="맑은 고딕"/>
              </a:defRPr>
            </a:pPr>
            <a:r>
              <a:t>환율·금리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3675888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FX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347472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21040" y="349300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97706"/>
                </a:solidFill>
                <a:latin typeface="맑은 고딕"/>
              </a:defRPr>
            </a:pPr>
            <a:r>
              <a:t>물류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3675888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BDI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241280" y="347472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332720" y="349300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97706"/>
                </a:solidFill>
                <a:latin typeface="맑은 고딕"/>
              </a:defRPr>
            </a:pPr>
            <a:r>
              <a:t>원자재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2720" y="3675888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WTI/Cu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4069080"/>
            <a:ext cx="146304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2920" y="4133088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관리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194560" y="406908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286000" y="408736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9488"/>
                </a:solidFill>
                <a:latin typeface="맑은 고딕"/>
              </a:defRPr>
            </a:pPr>
            <a:r>
              <a:t>로그인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0" y="4270248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Supabase Auth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06240" y="406908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297680" y="4087368"/>
            <a:ext cx="914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9488"/>
                </a:solidFill>
                <a:latin typeface="맑은 고딕"/>
              </a:defRPr>
            </a:pPr>
            <a:r>
              <a:t>관리자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7680" y="4270248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RBAC 4단계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B4B"/>
                </a:solidFill>
                <a:latin typeface="맑은 고딕"/>
              </a:defRPr>
            </a:pPr>
            <a:r>
              <a:t>12  팀 구성 및 역할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15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743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4320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경아 (kyoungaMin)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DEEFF"/>
                </a:solidFill>
                <a:latin typeface="맑은 고딕"/>
              </a:defRPr>
            </a:pPr>
            <a:r>
              <a:t>PM / ML / 최적화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프로젝트 매니저 · 전체 아키텍처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ML 파이프라인 13단계 구축 (S0~S8)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9184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LightGBM 7종 모델 학습·평가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40479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구간별 모델 선택기 (segment_best_v1)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38912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Simulation.tsx · Purchase.tsx 개발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3776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24건 의사결정 기록 · 개발일지 관리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1188720"/>
            <a:ext cx="2743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91840" y="1188720"/>
            <a:ext cx="274320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128016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성민 (KoraenDavid)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164592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DEEFF"/>
                </a:solidFill>
                <a:latin typeface="맑은 고딕"/>
              </a:defRPr>
            </a:pPr>
            <a:r>
              <a:t>재고 관리 개발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19456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Inventory.tsx — 월별 재고 대시보드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74320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RiskManagement.tsx — A-F 등급 필터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29184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ActionQueue.tsx — AI 추천 액션 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840479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30s API 캐시 성능 최적화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38912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KPI 카드 컴포넌트 개발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188720"/>
            <a:ext cx="2743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1188720"/>
            <a:ext cx="274320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128016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지은 (jieun)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64592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DEEFF"/>
                </a:solidFill>
                <a:latin typeface="맑은 고딕"/>
              </a:defRPr>
            </a:pPr>
            <a:r>
              <a:t>수요예측 · 외부지표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19456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WeeklyForecast.tsx — 주간 예측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74320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MonthlyForecast.tsx — 월간 예측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29184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ExternalIndicators.tsx — 18개 지표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840479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ModelEvaluation.tsx — 모델 평가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38912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5개 외부 데이터 소스 연동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1188720"/>
            <a:ext cx="2743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44000" y="1188720"/>
            <a:ext cx="274320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26880" y="128016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다솜 (dasom)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164592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DDEEFF"/>
                </a:solidFill>
                <a:latin typeface="맑은 고딕"/>
              </a:defRPr>
            </a:pPr>
            <a:r>
              <a:t>대시보드 · 인증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219456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Dashboard.tsx — 7 KPI 영역 대시보드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274320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Login.tsx — Supabase Auth 연동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329184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Admin.tsx — 사용자 CRUD + RBAC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3840479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실시간 알림 시스템 구현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438912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주간 경영 리포트 UI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2B4B"/>
                </a:solidFill>
                <a:latin typeface="맑은 고딕"/>
              </a:defRPr>
            </a:pPr>
            <a:r>
              <a:t>13  향후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16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B2B4B"/>
                </a:solidFill>
                <a:latin typeface="맑은 고딕"/>
              </a:defRPr>
            </a:pPr>
            <a:r>
              <a:t>Phase 6 — 통합 테스트·배포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118872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테스트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E2E 기능 테스트 — 13개 페이지 전체 시나리오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API 정합성 검증 — 40+ API 스키마 일관성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데이터 정합성 — forecast↔risk↔action 매칭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크로스 브라우저 + 모바일 반응형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554480"/>
            <a:ext cx="118872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600200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배포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01168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Vercel 배포 — Next.js 빌드, 환경변수, 도메인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774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Supabase 프로덕션 — Auth URL, RLS, API 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4320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TypeScript strict 모드 빌드 에러 해결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118872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977640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자동화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891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외부 데이터 정기 수집 스케줄러 (cron)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ML 파이프라인 주 1회 자동 실행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모니터링/알림 — API 에러율, DB 상태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931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3931920"/>
            <a:ext cx="118872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3977640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문서화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38912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사용자 매뉴얼 — 기능별 가이드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75488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API 문서 — OpenAPI 기반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120640"/>
            <a:ext cx="4846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• 운영 매뉴얼 — 장애 대응 절차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2011680"/>
            <a:ext cx="1371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94A8C8"/>
                </a:solidFill>
                <a:latin typeface="맑은 고딕"/>
              </a:defRPr>
            </a:pPr>
            <a:r>
              <a:t>질문 및 피드백을 환영합니다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4A8C8"/>
                </a:solidFill>
                <a:latin typeface="맑은 고딕"/>
              </a:defRPr>
            </a:pPr>
            <a:r>
              <a:t>반도체 부품·소재 수요예측 AI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4A8C8"/>
                </a:solidFill>
                <a:latin typeface="맑은 고딕"/>
              </a:defRPr>
            </a:pPr>
            <a:r>
              <a:t>경아 · 성민 · 지은 · 다솜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1884</Words>
  <Application>Microsoft Office PowerPoint</Application>
  <PresentationFormat>와이드스크린</PresentationFormat>
  <Paragraphs>499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AM-KAMIN</cp:lastModifiedBy>
  <cp:revision>2</cp:revision>
  <dcterms:created xsi:type="dcterms:W3CDTF">2013-01-27T09:14:16Z</dcterms:created>
  <dcterms:modified xsi:type="dcterms:W3CDTF">2026-03-13T17:36:37Z</dcterms:modified>
  <cp:category/>
</cp:coreProperties>
</file>