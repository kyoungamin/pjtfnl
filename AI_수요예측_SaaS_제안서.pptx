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AI 기반 수요 변동성 최적화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맑은 고딕"/>
              </a:defRPr>
            </a:pPr>
            <a:r>
              <a:t>반도체 부품·소재 제조기업을 위한 수요예측 및 재고 리스크 최적화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83280"/>
            <a:ext cx="3657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맑은 고딕"/>
              </a:defRPr>
            </a:pPr>
            <a:r>
              <a:t>ERP 위에 얹는 AI 의사결정 레이어 — 기존 데이터만으로 3개월 내 PoC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맑은 고딕"/>
              </a:defRPr>
            </a:pPr>
            <a:r>
              <a:t>2026년 3월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1B2A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현황 분석 — 생산기획의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솔루션 개요 — AI 의사결정 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1401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1401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핵심 기능 — 5가지 핵심 모듈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950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8950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기술 아키텍처 — 시스템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64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649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데이터 파이프라인 — 9단계 분석 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방법론 — AI/ML 모델링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159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159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검증 결과 — 실데이터 기반 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9145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9145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기대 효과 — 정량·정성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6694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26694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구축 로드맵 — 추진 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42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7424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01  현황 분석 — 생산기획의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맑은 고딕"/>
              </a:defRPr>
            </a:pPr>
            <a:r>
              <a:t>현재 ERP 기반 생산기획의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4572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수주 급증  →  납기 지연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맑은 고딕"/>
              </a:defRPr>
            </a:pPr>
            <a:r>
              <a:t>수요 변동 사전 감지 불가, 항상 사후 대응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73152" cy="4572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수주 급감  →  재고 과잉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맑은 고딕"/>
              </a:defRPr>
            </a:pPr>
            <a:r>
              <a:t>감산 판단이 늦어 과잉 생산·재고 비용 증가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73152" cy="4572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엑셀 수작업 의존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64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맑은 고딕"/>
              </a:defRPr>
            </a:pPr>
            <a:r>
              <a:t>담당자 경험·감에 의존한 생산계획 수립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73152" cy="4572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외부 변수 미반영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맑은 고딕"/>
              </a:defRPr>
            </a:pPr>
            <a:r>
              <a:t>환율·반도체 시장·거시경제 변동 예측 반영 불가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029200" cy="43891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"문제는 데이터가 없는 게 아니라,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데이터를 미래 의사결정으로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연결하는 구조가 없다는 것"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ERP는 과거 기록 시스템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수주 조회는 가능하지만 예측은 불가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재고 현황은 보이지만 리스크 감지는 불가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생산 실적은 있지만 최적 생산량 산출은 불가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맑은 고딕"/>
              </a:defRPr>
            </a:pPr>
            <a:r>
              <a:t>본 솔루션은 ERP를 대체하는 것이 아닌, ERP 위에 얹는 AI 의사결정 레이어입니다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02  솔루션 개요 — AI 의사결정 레이어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ERP 보완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ERP를 대체하지 않음</a:t>
            </a:r>
            <a:br/>
            <a:r>
              <a:t>ERP 위에 얹는</a:t>
            </a:r>
            <a:br/>
            <a:r>
              <a:t>AI 의사결정 레이어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383280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특화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복잡한 전사 SCM이 아닌</a:t>
            </a:r>
            <a:br/>
            <a:r>
              <a:t>생산기획 의사결정</a:t>
            </a:r>
            <a:br/>
            <a:r>
              <a:t>특화 AI 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1371600"/>
            <a:ext cx="3383280" cy="228600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빠른 도입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기존 ERP 데이터만으로</a:t>
            </a:r>
            <a:br/>
            <a:r>
              <a:t>시작 가능</a:t>
            </a:r>
            <a:br/>
            <a:r>
              <a:t>3개월 내 PoC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맑은 고딕"/>
              </a:defRPr>
            </a:pPr>
            <a:r>
              <a:t>대상 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2468880" cy="3200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맑은 고딕"/>
              </a:defRPr>
            </a:pPr>
            <a:r>
              <a:t>생산기획 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맑은 고딕"/>
              </a:defRPr>
            </a:pPr>
            <a:r>
              <a:t>주간/월간 생산계획 수립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389120"/>
            <a:ext cx="2468880" cy="3200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맑은 고딕"/>
              </a:defRPr>
            </a:pPr>
            <a:r>
              <a:t>운영/SCM 담당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맑은 고딕"/>
              </a:defRPr>
            </a:pPr>
            <a:r>
              <a:t>자재 조달·재고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389120"/>
            <a:ext cx="2468880" cy="3200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맑은 고딕"/>
              </a:defRPr>
            </a:pPr>
            <a:r>
              <a:t>영업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맑은 고딕"/>
              </a:defRPr>
            </a:pPr>
            <a:r>
              <a:t>고객사별 수주 동향 파악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389120"/>
            <a:ext cx="2468880" cy="3200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맑은 고딕"/>
              </a:defRPr>
            </a:pPr>
            <a:r>
              <a:t>경영진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맑은 고딕"/>
              </a:defRPr>
            </a:pPr>
            <a:r>
              <a:t>데이터 기반 의사결정 리포트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맑은 고딕"/>
              </a:defRPr>
            </a:pPr>
            <a:r>
              <a:t>이런 기업에 적합합니다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 고객사별 주문 변동 폭이 큰 기업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 매주 생산계획을 수정하는 기업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 매출-생산 간 괴리가 자주 발생하는 기업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 반도체·부품·소재 등 글로벌 지표 영향이 큰 산업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03  핵심 기능 — 5가지 핵심 모듈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03120" cy="4846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0312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수요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제품별 확률 밴드 예측</a:t>
            </a:r>
            <a:br/>
            <a:r>
              <a:t>• P10(낙관) / P50(중앙) / P90(비관)</a:t>
            </a:r>
            <a:br/>
            <a:r>
              <a:t>• 주간: 1w/2w/4w</a:t>
            </a:r>
            <a:br/>
            <a:r>
              <a:t>• 월간: 1m/3m/6m</a:t>
            </a:r>
            <a:br/>
            <a:r>
              <a:t>• LightGBM Quantile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280160"/>
            <a:ext cx="2103120" cy="4846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280160"/>
            <a:ext cx="210312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외부 변수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774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30+개 경제·산업 지표 반영</a:t>
            </a:r>
            <a:br/>
            <a:r>
              <a:t>• 환율(4통화), SOX지수, DRAM현물가</a:t>
            </a:r>
            <a:br/>
            <a:r>
              <a:t>• FRED/EIA/ECOS/관세청 API</a:t>
            </a:r>
            <a:br/>
            <a:r>
              <a:t>• 거시경제·무역·원자재 자동 수집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280160"/>
            <a:ext cx="2103120" cy="4846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280160"/>
            <a:ext cx="210312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리스크 스코어링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3774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4유형 자동 평가 + A~F 등급</a:t>
            </a:r>
            <a:br/>
            <a:r>
              <a:t>• 결품 리스크 (35%)</a:t>
            </a:r>
            <a:br/>
            <a:r>
              <a:t>• 과잉 리스크 (25%)</a:t>
            </a:r>
            <a:br/>
            <a:r>
              <a:t>• 납기 리스크 (25%)</a:t>
            </a:r>
            <a:br/>
            <a:r>
              <a:t>• 마진 리스크 (15%)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280160"/>
            <a:ext cx="2103120" cy="4846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1280160"/>
            <a:ext cx="2103120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생산 최적화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3774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예측+재고+캐파 기반 최적 생산량</a:t>
            </a:r>
            <a:br/>
            <a:r>
              <a:t>• 리스크별 동적 조정</a:t>
            </a:r>
            <a:br/>
            <a:r>
              <a:t>• 결품 위험 시 P90 상향</a:t>
            </a:r>
            <a:br/>
            <a:r>
              <a:t>• 과잉 위험 시 감량</a:t>
            </a:r>
            <a:br/>
            <a:r>
              <a:t>• 긴급수주 자동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280160"/>
            <a:ext cx="2103120" cy="4846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280160"/>
            <a:ext cx="2103120" cy="914400"/>
          </a:xfrm>
          <a:prstGeom prst="rect">
            <a:avLst/>
          </a:prstGeom>
          <a:solidFill>
            <a:srgbClr val="E17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발주 최적화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3774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BOM 전개 + EOQ/ROP 기반 추천</a:t>
            </a:r>
            <a:br/>
            <a:r>
              <a:t>• 공급사 가중점수 추천</a:t>
            </a:r>
            <a:br/>
            <a:r>
              <a:t>• 리드타임·단가·신뢰도 종합</a:t>
            </a:r>
            <a:br/>
            <a:r>
              <a:t>• 대체 공급사 자동 제시</a:t>
            </a:r>
            <a:br/>
            <a:r>
              <a:t>• 발주 일정·긴급도 산출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03+  사용자 시나리오 — 현업 활용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64592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로그인</a:t>
            </a:r>
            <a:br/>
            <a:r>
              <a:t>대시보드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463040"/>
            <a:ext cx="164592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주별/월별</a:t>
            </a:r>
            <a:br/>
            <a:r>
              <a:t>예측 단위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164592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수요 예측 확인</a:t>
            </a:r>
            <a:br/>
            <a:r>
              <a:t>P10/P50/P90 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164592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7451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변동성 큰 품목</a:t>
            </a:r>
            <a:br/>
            <a:r>
              <a:t>자동 식별 (C등급+)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164592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7451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권장 조치 확인</a:t>
            </a:r>
            <a:br/>
            <a:r>
              <a:t>생산계획 수정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1463040"/>
            <a:ext cx="164592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187451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예측 vs 실적</a:t>
            </a:r>
            <a:br/>
            <a:r>
              <a:t>모델 신뢰도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00400"/>
            <a:ext cx="10972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맑은 고딕"/>
              </a:defRPr>
            </a:pPr>
            <a:r>
              <a:t>생산회의에서 "감"이 아닌 데이터 기반 설명이 가능해집니다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상황별 자동 조치 제안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457200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상황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자동 제안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우선순위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수요 급증 (결품 위험)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긴급 발주 / 증산 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수요 급감 (과잉 위험)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감산 / 발주 보류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납기 지연 위험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대체 공급사 / 긴급 입고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변동성 과다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안전재고 상향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고객 집중 리스크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우선 대응 품목 알림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04  기술 아키텍처 — 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05840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사용자 (브라우저)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Next.js 대시보드  |  Vercel 배포  |  반응형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FastAPI 백엔드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예측 API  |  리스크 API  |  대시보드 API  |  Swagger 자동 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100584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PostgreSQL (Supabase)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29개 테이블  |  REST API  |  실시간 구독  |  RLS 보안  |  RBAC 4단계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72000"/>
            <a:ext cx="100584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데이터 파이프라인 (Python)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83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CSV 적재 → 외부 API 수집 → 9단계 분석 → 생산·발주 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외부 데이터 소스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943600"/>
            <a:ext cx="1828800" cy="3657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961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FRED (미연준)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5943600"/>
            <a:ext cx="1828800" cy="3657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5961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EIA (에너지청)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5943600"/>
            <a:ext cx="1828800" cy="3657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961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관세청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5943600"/>
            <a:ext cx="1828800" cy="3657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5961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ECOS (한국은행)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5943600"/>
            <a:ext cx="1828800" cy="3657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961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ERP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05  데이터 파이프라인 — 9단계 분석 엔진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9692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28800"/>
                <a:gridCol w="2011680"/>
                <a:gridCol w="201168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모듈명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입력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주별·월별 집계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수주, 매출, 생산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집계 4테이블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ISO 주차 캘린더 + 다차원 집계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S1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일간 추정 재고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재고, 생산, 매출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daily_inventory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월초 스냅샷 기반 일간 보간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리드타임 통계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구매발주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product_lead_time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AVG / P90 리드타임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피처 엔지니어링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ERP + 외부지표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feature_store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주간 46피처 / 월간 35피처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수요예측 모델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feature_store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forecast_result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LightGBM P10/P50/P90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S5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리스크 스코어링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예측 + 재고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risk_score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4유형, A~F 등급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조치 큐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risk_score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action_queue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자동 조치 제안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S7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 최적화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예측+캐파+리스크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production_plan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최적 생산량 산출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 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BOM+리드타임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purchase_rec.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BOM전개+EOQ+공급사추천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맑은 고딕"/>
              </a:defRPr>
            </a:pPr>
            <a:r>
              <a:t>▶ 주간 파이프라인(S0~S8) + 월간 파이프라인(S3m~S4m)  |  자동화 스케줄링 지원  |  단일 CLI로 통합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DB 구조: 29개 테이블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566928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테이블 수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마스터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제품, 공급사, 고객사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트랜잭션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수주, 매출, 생산, 발주, 재고, BOM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외부지표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경제, 무역, 환율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분석/ML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피처스토어, 예측, 리스크, 조치큐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생산계획, 발주추천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집계/인증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주별/월별 집계, 사용자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06  방법론 — AI/ML 모델링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수요예측 모델 — LightGBM Quantile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맑은 고딕"/>
              </a:defRPr>
            </a:pPr>
            <a:r>
              <a:t>모델 선정 사유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• P10/P50/P90 분위 예측 직접 산출</a:t>
            </a:r>
            <a:br/>
            <a:r>
              <a:t>• 외부 피처(환율, 지수) 활용 용이</a:t>
            </a:r>
            <a:br/>
            <a:r>
              <a:t>• 범주형 변수 네이티브 처리</a:t>
            </a:r>
            <a:br/>
            <a:r>
              <a:t>• 빠른 학습 속도, 과적합 방지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맑은 고딕"/>
              </a:defRPr>
            </a:pPr>
            <a:r>
              <a:t>피처 엔지니어링 (10개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A. 수주 이력 래그 (lag1~52주, 이동평균)</a:t>
            </a:r>
            <a:br/>
            <a:r>
              <a:t>B. 모멘텀 (변화율, 차분)</a:t>
            </a:r>
            <a:br/>
            <a:r>
              <a:t>C. 변동성 (표준편차, CV, 비영수주율)</a:t>
            </a:r>
            <a:br/>
            <a:r>
              <a:t>D. 공급측 (생산, 매출, 재고, BTB 비율)</a:t>
            </a:r>
            <a:br/>
            <a:r>
              <a:t>E. 고객 집중도 (HHI, TOP1/3 비율)</a:t>
            </a:r>
            <a:br/>
            <a:r>
              <a:t>F. 가격 (평균단가, 주문평균값)</a:t>
            </a:r>
            <a:br/>
            <a:r>
              <a:t>G. 반도체 시장 (SOX, DRAM, NAND)</a:t>
            </a:r>
            <a:br/>
            <a:r>
              <a:t>H. 환율 (USD/JPY/EUR/CNY→KRW)</a:t>
            </a:r>
            <a:br/>
            <a:r>
              <a:t>I. 거시경제 (금리, 산업생산, CPI, PMI)</a:t>
            </a:r>
            <a:br/>
            <a:r>
              <a:t>J. 무역 (반도체 수출입, 무역수지)</a:t>
            </a:r>
            <a:br/>
            <a:r>
              <a:t>K. 시간 (주차, 월, 분기, 연말 여부)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맑은 고딕"/>
              </a:defRPr>
            </a:pPr>
            <a:r>
              <a:t>Fallback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• LightGBM 미설치 시 이동평균 자동 전환</a:t>
            </a:r>
            <a:br/>
            <a:r>
              <a:t>• 학습 데이터 부족 제품: 가중 이동평균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리스크 스코어링 + 생산·발주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맑은 고딕"/>
              </a:defRPr>
            </a:pPr>
            <a:r>
              <a:t>리스크 스코어링 (S5)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• 결품(35%): P90수요 대비 재고 부족도</a:t>
            </a:r>
            <a:br/>
            <a:r>
              <a:t>• 과잉(25%): 재고일수 90일 초과 기준</a:t>
            </a:r>
            <a:br/>
            <a:r>
              <a:t>• 납기(25%): P90 리드타임 대비 잔여일</a:t>
            </a:r>
            <a:br/>
            <a:r>
              <a:t>• 마진(15%): 원가 상승·환율 변동 압박</a:t>
            </a:r>
            <a:br/>
            <a:r>
              <a:t>• 등급: A(0~20) ~ F(81~100)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맑은 고딕"/>
              </a:defRPr>
            </a:pPr>
            <a:r>
              <a:t>생산 최적화 (S7)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• 수요예측 + 현재재고 + 안전재고 → 순소요량</a:t>
            </a:r>
            <a:br/>
            <a:r>
              <a:t>• 생산 캐파시티 제약 반영 (×1.2 버퍼)</a:t>
            </a:r>
            <a:br/>
            <a:r>
              <a:t>• 리스크 등급별 동적 조정</a:t>
            </a:r>
            <a:br/>
            <a:r>
              <a:t>  - D/F + 결품↑ → P90 기반 증산</a:t>
            </a:r>
            <a:br/>
            <a:r>
              <a:t>  - D/F + 과잉↑ → 10% 감량</a:t>
            </a:r>
            <a:br/>
            <a:r>
              <a:t>• 미처리 긴급수주 자동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70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맑은 고딕"/>
              </a:defRPr>
            </a:pPr>
            <a:r>
              <a:t>발주 최적화 (S8)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45152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• BOM 전개 → 자재별 총소요량 산출</a:t>
            </a:r>
            <a:br/>
            <a:r>
              <a:t>• 안전재고·재주문점(ROP) 산출</a:t>
            </a:r>
            <a:br/>
            <a:r>
              <a:t>• EOQ + Lot-for-Lot 하이브리드</a:t>
            </a:r>
            <a:br/>
            <a:r>
              <a:t>• 공급사 가중점수 추천</a:t>
            </a:r>
            <a:br/>
            <a:r>
              <a:t>  (리드타임 40% + 단가 35% + 신뢰도 25%)</a:t>
            </a:r>
            <a:br/>
            <a:r>
              <a:t>• 대체 공급사 자동 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07  검증 결과 — 실데이터 기반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13,321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리스크 분석 대상</a:t>
            </a:r>
            <a:br/>
            <a:r>
              <a:t>제품 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188720"/>
            <a:ext cx="26517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3,562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생산 계획</a:t>
            </a:r>
            <a:br/>
            <a:r>
              <a:t>산출 건수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651760" cy="128016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1,356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발주 추천</a:t>
            </a:r>
            <a:br/>
            <a:r>
              <a:t>산출 건수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188720"/>
            <a:ext cx="2651760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C등급 이상</a:t>
            </a:r>
            <a:br/>
            <a:r>
              <a:t>커버리지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리스크 등급 분포 (검증 완료)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2004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7315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등급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건수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 (안전)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10,199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리스크 낮음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 (주의)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1,564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모니터링 필요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 (경고)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조치 검토 대상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 (위험)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즉시 대응 필요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 (심각)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S7 생산 최적화 결과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0" y="32004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총 산출 건수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3,562건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Critical 우선순위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2,125건 (60%)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계획 유형 - 증산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981건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계획 유형 - 감산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824건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계획 유형 - 유지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452건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계획 유형 - 신규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1,305건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S8 발주 최적화 결과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566928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총 추천 건수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1,356건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BOM 전개 기반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긴급도 Critical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1,220건 (90%)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즉시 발주 필요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발주방식 Lot-for-Lot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1,218건 (90%)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순소요량 기반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발주방식 EOQ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138건 (10%)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경제적 주문량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공급사 매핑율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이력 기반, 확장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943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무결성 검증 결과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943600" y="56692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검증 항목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생산량 음수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0건 (통과)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발주량 음수 검증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0건 (통과)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일정 정합성 (발주일 ≤ 필요일)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100% 통과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JSON 포맷 유효성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100% 통과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07+  검증 방법론 — 신뢰성 확보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4572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1단계</a:t>
            </a:r>
            <a:br/>
            <a:r>
              <a:t>모델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Walk-Forward Cross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시계열 특성을 반영한 전진 교차검증</a:t>
            </a:r>
            <a:br/>
            <a:r>
              <a:t>• 주간 3-fold / 월간 2-fold</a:t>
            </a:r>
            <a:br/>
            <a:r>
              <a:t>• Pinball Loss 기반 분위 예측 정확도</a:t>
            </a:r>
            <a:br/>
            <a:r>
              <a:t>• Grid Search 하이퍼파라미터 튜닝</a:t>
            </a:r>
            <a:br/>
            <a:r>
              <a:t>• 예측 vs 실적 비교 리포트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474720" cy="4572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47472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2단계</a:t>
            </a:r>
            <a:br/>
            <a:r>
              <a:t>로직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리스크 스코어링 정합성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등급 경계 연속성 검증 (갭 버그 수정)</a:t>
            </a:r>
            <a:br/>
            <a:r>
              <a:t>• 가중치 민감도 분석 (3개 시나리오)</a:t>
            </a:r>
            <a:br/>
            <a:r>
              <a:t>  → 모든 시나리오 C이상 11~16% 안정</a:t>
            </a:r>
            <a:br/>
            <a:r>
              <a:t>• 수정 전/후 비교: critical 66%→3%</a:t>
            </a:r>
            <a:br/>
            <a:r>
              <a:t>• 조치 큐 심각도 분포 정상화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474720" cy="4572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109728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3단계</a:t>
            </a:r>
            <a:br/>
            <a:r>
              <a:t>결과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생산·발주 최적화 무결성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음수 값 발생 여부 (0건 확인)</a:t>
            </a:r>
            <a:br/>
            <a:r>
              <a:t>• 일정 정합성 (발주일 ≤ 필요일)</a:t>
            </a:r>
            <a:br/>
            <a:r>
              <a:t>• JSON 포맷 유효성</a:t>
            </a:r>
            <a:br/>
            <a:r>
              <a:t>• 우선순위·긴급도 분포 합리성</a:t>
            </a:r>
            <a:br/>
            <a:r>
              <a:t>• 공급사 매핑율 확인</a:t>
            </a:r>
            <a:br/>
            <a:r>
              <a:t>• planned_qty=0 &amp; critical 이상치 추적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맑은 고딕"/>
              </a:defRPr>
            </a:pPr>
            <a:r>
              <a:t>지속적 검증: 예측 vs 실적 자동 비교 리포트  |  주간 모델 재학습  |  리스크 스코어 추이 모니터링  |  A/B 테스트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08  기대 효과 — ERP 대비 차별점 &amp; 정량 목표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686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ERP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본 솔루션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과거 실적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미래 수요 예측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(P10/P50/P90 확률 밴드)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외부 변수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(30+ 경제·산업 지표)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리스크 자동 감지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(4유형, A~F 등급)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 대응안 제안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(자동 조치 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최적 생산량 산출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(캐파+리스크 기반)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 자동 추천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(BOM+EOQ+공급사 추천)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다차원 집계 분석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제한적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 (주별/월별/거래처별)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맑은 고딕"/>
              </a:defRPr>
            </a:pPr>
            <a:r>
              <a:t>정량적 기대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0"/>
            <a:ext cx="2651760" cy="128016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20%↓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재고 과잉 감소</a:t>
            </a:r>
            <a:br/>
            <a:r>
              <a:t>과잉 생산 방지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5303520"/>
            <a:ext cx="26517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80%↓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엑셀 분석 시간</a:t>
            </a:r>
            <a:br/>
            <a:r>
              <a:t>절감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303520"/>
            <a:ext cx="265176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50%↓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생산회의 준비</a:t>
            </a:r>
            <a:br/>
            <a:r>
              <a:t>시간 단축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5303520"/>
            <a:ext cx="2651760" cy="128016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사전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결품 납기 지연</a:t>
            </a:r>
            <a:br/>
            <a:r>
              <a:t>리스크 감지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09  구축 로드맵 — 추진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82880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828800" cy="118872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데이터 탐색·전처리</a:t>
            </a:r>
            <a:br/>
            <a:r>
              <a:t>DB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0280"/>
            <a:ext cx="1188720" cy="256032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 ERP CSV 9개 파일 적재</a:t>
            </a:r>
            <a:br/>
            <a:r>
              <a:t>• 27테이블 DB 구축</a:t>
            </a:r>
            <a:br/>
            <a:r>
              <a:t>• 외부 API 5종 연동</a:t>
            </a:r>
            <a:br/>
            <a:r>
              <a:t>• 환율·산업지수 17,000건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280160"/>
            <a:ext cx="182880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1280160"/>
            <a:ext cx="1828800" cy="118872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수요 변동성 분석</a:t>
            </a:r>
            <a:br/>
            <a:r>
              <a:t>모델 개발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240280"/>
            <a:ext cx="1188720" cy="256032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5176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 주간+월간 피처 엔지니어링</a:t>
            </a:r>
            <a:br/>
            <a:r>
              <a:t>  (46+35 피처)</a:t>
            </a:r>
            <a:br/>
            <a:r>
              <a:t>• LightGBM Quantile 학습</a:t>
            </a:r>
            <a:br/>
            <a:r>
              <a:t>• Walk-Forward CV</a:t>
            </a:r>
            <a:br/>
            <a:r>
              <a:t>• 이동평균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280160"/>
            <a:ext cx="182880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280160"/>
            <a:ext cx="1828800" cy="118872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재고 리스크</a:t>
            </a:r>
            <a:br/>
            <a:r>
              <a:t>점수화 엔진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240280"/>
            <a:ext cx="1188720" cy="256032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65176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 4유형 리스크 스코어링</a:t>
            </a:r>
            <a:br/>
            <a:r>
              <a:t>• A~F 등급 체계</a:t>
            </a:r>
            <a:br/>
            <a:r>
              <a:t>• 자동 조치 큐 생성</a:t>
            </a:r>
            <a:br/>
            <a:r>
              <a:t>• 가중치 민감도 분석</a:t>
            </a:r>
            <a:br/>
            <a:r>
              <a:t>• 실데이터 검증 완료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280160"/>
            <a:ext cx="182880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280160"/>
            <a:ext cx="1828800" cy="1188720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생산·발주</a:t>
            </a:r>
            <a:br/>
            <a:r>
              <a:t>최적화 알고리즘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240280"/>
            <a:ext cx="1188720" cy="256032"/>
          </a:xfrm>
          <a:prstGeom prst="rect">
            <a:avLst/>
          </a:prstGeom>
          <a:solidFill>
            <a:srgbClr val="2DC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5176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 최적 생산량 산출 (S7)</a:t>
            </a:r>
            <a:br/>
            <a:r>
              <a:t>• BOM+EOQ 발주추천 (S8)</a:t>
            </a:r>
            <a:br/>
            <a:r>
              <a:t>• 공급사 가중점수 추천</a:t>
            </a:r>
            <a:br/>
            <a:r>
              <a:t>• 무결성 검증 통과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1280160"/>
            <a:ext cx="182880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280160"/>
            <a:ext cx="1828800" cy="1188720"/>
          </a:xfrm>
          <a:prstGeom prst="rect">
            <a:avLst/>
          </a:prstGeom>
          <a:solidFill>
            <a:srgbClr val="FB6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Phase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웹 대시보드</a:t>
            </a:r>
            <a:br/>
            <a:r>
              <a:t>API 서버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240280"/>
            <a:ext cx="1188720" cy="256032"/>
          </a:xfrm>
          <a:prstGeom prst="rect">
            <a:avLst/>
          </a:prstGeom>
          <a:solidFill>
            <a:srgbClr val="FB6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진행 예정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65176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 FastAPI 백엔드 구축</a:t>
            </a:r>
            <a:br/>
            <a:r>
              <a:t>• Next.js 대시보드</a:t>
            </a:r>
            <a:br/>
            <a:r>
              <a:t>• Supabase Auth + RBAC</a:t>
            </a:r>
            <a:br/>
            <a:r>
              <a:t>• 실시간 알림 시스템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04120" y="1280160"/>
            <a:ext cx="1828800" cy="5029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04120" y="1280160"/>
            <a:ext cx="1828800" cy="1188720"/>
          </a:xfrm>
          <a:prstGeom prst="rect">
            <a:avLst/>
          </a:prstGeom>
          <a:solidFill>
            <a:srgbClr val="FB6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Phase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통합 테스트</a:t>
            </a:r>
            <a:br/>
            <a:r>
              <a:t>배포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2240280"/>
            <a:ext cx="1188720" cy="256032"/>
          </a:xfrm>
          <a:prstGeom prst="rect">
            <a:avLst/>
          </a:prstGeom>
          <a:solidFill>
            <a:srgbClr val="FB6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진행 예정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65176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 E2E 테스트</a:t>
            </a:r>
            <a:br/>
            <a:r>
              <a:t>• 성능 최적화</a:t>
            </a:r>
            <a:br/>
            <a:r>
              <a:t>• Vercel + Supabase Cloud</a:t>
            </a:r>
            <a:br/>
            <a:r>
              <a:t>• 사용자 교육·매뉴얼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09+  리스크 및 대응 전략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리스크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영향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대응 전략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고객사별 패턴 편차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예측 정확도 저하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제품군 우선 적용 후 점진 확장, 고객사별 모델 분리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외부 변수 영향도 불확실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과적합/과소적합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변수 자동 가중치 학습 (Feature Importance), 정기 재학습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현업 미반영 가능성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ROI 미달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KPI 연계 리포트, "예측 vs 실제" 비교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ECOS API 연동 불안정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한국 경제지표 결손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ECOS 실데이터 + BOK 시뮬레이션 이중 적재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LightGBM 미설치 환경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모델 실행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이동평균 fallback 자동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공급사 매핑율 낮음 (11.7%)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 추천 정확도 제한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공급사 마스터 확충, 수동 매핑 병행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RBAC 권한 체계 (4단계)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93776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대시보드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 분석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모델 설정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보고서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사용자 관리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manager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analyst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viewer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3152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맑은 고딕"/>
              </a:defRPr>
            </a:pPr>
            <a:r>
              <a:t>AI 기반 수요 변동성 최적화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맑은 고딕"/>
              </a:defRPr>
            </a:pPr>
            <a:r>
              <a:t>기존 ERP 데이터만으로 시작 가능  |  3개월 내 PoC  |  Phase 1~4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